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47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9875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365760"/>
            <a:ext cx="2377440" cy="4389120"/>
          </a:xfrm>
          <a:prstGeom prst="rect">
            <a:avLst/>
          </a:prstGeom>
          <a:solidFill>
            <a:srgbClr val="252525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160" y="1234440"/>
            <a:ext cx="128016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2651760"/>
            <a:ext cx="2286000" cy="0"/>
          </a:xfrm>
          <a:prstGeom prst="line">
            <a:avLst/>
          </a:prstGeom>
          <a:noFill/>
          <a:ln w="6350">
            <a:solidFill>
              <a:srgbClr val="3A3A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37960" y="2907792"/>
            <a:ext cx="2286000" cy="0"/>
          </a:xfrm>
          <a:prstGeom prst="line">
            <a:avLst/>
          </a:prstGeom>
          <a:noFill/>
          <a:ln w="6350">
            <a:solidFill>
              <a:srgbClr val="3A3A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3163824"/>
            <a:ext cx="2286000" cy="0"/>
          </a:xfrm>
          <a:prstGeom prst="line">
            <a:avLst/>
          </a:prstGeom>
          <a:noFill/>
          <a:ln w="6350">
            <a:solidFill>
              <a:srgbClr val="3A3A3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3419856"/>
            <a:ext cx="2286000" cy="0"/>
          </a:xfrm>
          <a:prstGeom prst="line">
            <a:avLst/>
          </a:prstGeom>
          <a:noFill/>
          <a:ln w="6350">
            <a:solidFill>
              <a:srgbClr val="3A3A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3675888"/>
            <a:ext cx="2286000" cy="0"/>
          </a:xfrm>
          <a:prstGeom prst="line">
            <a:avLst/>
          </a:prstGeom>
          <a:noFill/>
          <a:ln w="6350">
            <a:solidFill>
              <a:srgbClr val="3A3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7432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kern="0" spc="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ПЕРМСКИЙ АВИАЦИОННЫЙ ТЕХНИКУМ им. А.Д. ШВЕЦОВА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64008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kern="0" spc="5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МДК.09.01 · ПРОЕКТИРОВАНИЕ И РАЗРАБОТКА ВЕБ-ПРИЛОЖЕНИЙ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11480" y="11430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Разработка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411480" y="173736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сайта фотосалона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411480" y="24231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«CAMERAW»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11480" y="3063240"/>
            <a:ext cx="3657600" cy="0"/>
          </a:xfrm>
          <a:prstGeom prst="line">
            <a:avLst/>
          </a:prstGeom>
          <a:noFill/>
          <a:ln w="10160">
            <a:solidFill>
              <a:srgbClr val="B89A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2918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группы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09.02.07 </a:t>
            </a:r>
            <a:r>
              <a:rPr lang="ru-RU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Юферев Артём Алексеевич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1480" y="361188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преподаватель МДК.09.0</a:t>
            </a:r>
            <a:r>
              <a:rPr lang="ru-RU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</a:t>
            </a:r>
            <a:r>
              <a:rPr lang="ru-RU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Черевко</a:t>
            </a:r>
            <a:r>
              <a:rPr lang="ru-RU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Александр Сергеевич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4434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Пермь, 2026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178040" y="1170433"/>
            <a:ext cx="914400" cy="91440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0" y="1317254"/>
            <a:ext cx="640080" cy="640080"/>
          </a:xfrm>
          <a:prstGeom prst="ellipse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СОДЕРЖАНИЕ ПРЕЗЕНТАЦИИ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457200" cy="4572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30759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и задачи проекта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05840" y="1709928"/>
            <a:ext cx="329184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1956816"/>
            <a:ext cx="457200" cy="4572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9568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02996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предметной области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005840" y="2432304"/>
            <a:ext cx="329184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1480" y="2679192"/>
            <a:ext cx="457200" cy="4572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6791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2752344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Технический стек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005840" y="3154680"/>
            <a:ext cx="329184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" y="3401568"/>
            <a:ext cx="457200" cy="4572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401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3474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структура системы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05840" y="3877056"/>
            <a:ext cx="329184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4123944"/>
            <a:ext cx="457200" cy="4572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41239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4197096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модули и интерфейсы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05840" y="4599432"/>
            <a:ext cx="329184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46320" y="1234440"/>
            <a:ext cx="45720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40680" y="13075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Инновационный модуль «Фотосессии»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40680" y="1709928"/>
            <a:ext cx="347472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46320" y="1956816"/>
            <a:ext cx="45720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19568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40680" y="202996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Моделирование (UML)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40680" y="2432304"/>
            <a:ext cx="347472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46320" y="2679192"/>
            <a:ext cx="45720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46320" y="26791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40680" y="275234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440680" y="3154680"/>
            <a:ext cx="347472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46320" y="3401568"/>
            <a:ext cx="45720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46320" y="3401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40680" y="34747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40680" y="3877056"/>
            <a:ext cx="347472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ЗАДАЧИ ПРОЕКТА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7772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Разработка информационной системы фотосалона «Cameraw»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508760"/>
            <a:ext cx="3749040" cy="1280160"/>
          </a:xfrm>
          <a:prstGeom prst="rect">
            <a:avLst/>
          </a:prstGeom>
          <a:solidFill>
            <a:srgbClr val="252525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600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 управления взаимодействием с клиентами фотосалона через современное веб-приложение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15087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0" y="1856232"/>
            <a:ext cx="256032" cy="256032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85623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919472" y="1874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предметной области и конкурентов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0" y="2423160"/>
            <a:ext cx="256032" cy="256032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2423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19472" y="244144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 технического задания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0" y="2990088"/>
            <a:ext cx="256032" cy="256032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0" y="299008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19472" y="300837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Проектирование архитектуры SPA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0" y="3557016"/>
            <a:ext cx="256032" cy="256032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0" y="355701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19472" y="357530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Реализация 10 функциональных модулей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0" y="4123944"/>
            <a:ext cx="256032" cy="256032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41239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919472" y="414223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 готового продукта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11480" y="4480560"/>
            <a:ext cx="8321040" cy="36576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4498848"/>
            <a:ext cx="7955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Результат: готовая ИС — сайт фотосалона с личным кабинетом клиента и административной панелью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ПРЕДМЕТНОЙ ОБЛАСТИ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11480" y="1143000"/>
            <a:ext cx="3931920" cy="164592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143000"/>
            <a:ext cx="3931920" cy="34747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61288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 АВТОМАТИЗАЦИИ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1554480"/>
            <a:ext cx="3566160" cy="83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Фотосалон «Cameraw»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бренд на рынке фотоуслуг.
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54880" y="1143000"/>
            <a:ext cx="3977640" cy="164592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143000"/>
            <a:ext cx="3977640" cy="34747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161288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ПРОБЛЕМЫ КОНКУРЕНТОВ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92040" y="155448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Нет онлайн-записи и отображения слотов
• Устаревший дизайн без мобильной версии
• Нет личного кабинета клиента
• Ручное управление через WhatsApp/звонки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1480" y="2926080"/>
            <a:ext cx="8321040" cy="100584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971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УНИКАЛЬНОСТЬ РАЗРАБОТКИ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329184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отличие от тяжёлых CRM-систем — лёгкое кастомное решение с полным модулем «Фотосессии»: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выбирает фото для ретуши прямо в личном кабинете — без сторонних сервисов и мессенджеров.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11480" y="40690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ЦЕЛЕВАЯ АУДИТОРИЯ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11480" y="4315968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Физические лица 18–55 </a:t>
            </a:r>
            <a:r>
              <a:rPr lang="en-US" sz="1250" i="1" dirty="0" err="1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ТЕХНОЛОГИЧЕСКИЙ СТЕК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685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Выбор технологий обоснован сравнительным анализом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4023360" cy="155448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4023360" cy="347472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234440"/>
            <a:ext cx="73152" cy="155448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2893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76072" y="16733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Vue.js 3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76072" y="22402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API · Vite · Pinia · Vue Router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00600" y="1234440"/>
            <a:ext cx="4023360" cy="155448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1234440"/>
            <a:ext cx="4023360" cy="347472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00600" y="1234440"/>
            <a:ext cx="73152" cy="155448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5192" y="12893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965192" y="16733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Laravel 10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965192" y="22402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8.1+ · Sanctum · Eloquent ORM · REST API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1480" y="3063240"/>
            <a:ext cx="4023360" cy="155448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063240"/>
            <a:ext cx="4023360" cy="347472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480" y="3063240"/>
            <a:ext cx="73152" cy="155448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6072" y="31181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ДАННЫХ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76072" y="35021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MySQL 8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76072" y="40690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Реляционная · Миграции · Связи между таблицами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00600" y="3063240"/>
            <a:ext cx="4023360" cy="155448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ru-RU" dirty="0"/>
          </a:p>
        </p:txBody>
      </p:sp>
      <p:sp>
        <p:nvSpPr>
          <p:cNvPr id="24" name="Shape 22"/>
          <p:cNvSpPr/>
          <p:nvPr/>
        </p:nvSpPr>
        <p:spPr>
          <a:xfrm>
            <a:off x="4800600" y="3063240"/>
            <a:ext cx="4023360" cy="347472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0600" y="3063240"/>
            <a:ext cx="73152" cy="155448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65192" y="31181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ИНСТРУМЕНТЫ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65192" y="35021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 Code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965192" y="40690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· date-fns · Composer · </a:t>
            </a:r>
            <a:r>
              <a:rPr lang="en-US" sz="1100" dirty="0" err="1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</a:t>
            </a: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СТРУКТУРА СИСТЕМЫ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Архитектура: SPA (Single Page Application)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508760"/>
            <a:ext cx="2697480" cy="320040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508760"/>
            <a:ext cx="2697480" cy="3840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52704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" y="2039112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993392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Vue-компонентов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4360" y="255117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" y="2505456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Router (гварды)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" y="3063240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" y="3017520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Pinia (глобальный стейт)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3575304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3529584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(HTTP-клиент)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4087368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041648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дизайн 320–1920px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91840" y="1508760"/>
            <a:ext cx="2697480" cy="3200400"/>
          </a:xfrm>
          <a:prstGeom prst="rect">
            <a:avLst/>
          </a:prstGeom>
          <a:solidFill>
            <a:srgbClr val="FBF6EE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91840" y="1508760"/>
            <a:ext cx="2697480" cy="384048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01568" y="152704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74720" y="2039112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39312" y="1993392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Sanctum (токены)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474720" y="255117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39312" y="2505456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Маршруты: публичные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474720" y="3063240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39312" y="3017520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Маршруты: auth:sanctum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474720" y="3575304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39312" y="3529584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Маршруты: role:admin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474720" y="4087368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39312" y="4041648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JSON-ответы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72200" y="1508760"/>
            <a:ext cx="2697480" cy="320040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72200" y="1508760"/>
            <a:ext cx="2697480" cy="3840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81928" y="152704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355080" y="2039112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19672" y="1993392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контроллеров Laravel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255117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19672" y="2505456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Eloquent ORM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55080" y="3063240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19672" y="3017520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MySQL: 8 таблиц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355080" y="3575304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19672" y="3529584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client / admin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355080" y="4087368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19672" y="4041648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файлов (storage)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108960" y="3108960"/>
            <a:ext cx="182880" cy="0"/>
          </a:xfrm>
          <a:prstGeom prst="line">
            <a:avLst/>
          </a:prstGeom>
          <a:noFill/>
          <a:ln w="19050">
            <a:solidFill>
              <a:srgbClr val="B89A6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89320" y="3108960"/>
            <a:ext cx="182880" cy="0"/>
          </a:xfrm>
          <a:prstGeom prst="line">
            <a:avLst/>
          </a:prstGeom>
          <a:noFill/>
          <a:ln w="19050">
            <a:solidFill>
              <a:srgbClr val="B89A6A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ФУНКЦИОНАЛЬНЫЕ МОДУЛИ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685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</a:t>
            </a:r>
            <a:r>
              <a:rPr lang="en-US" sz="1800" i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модулей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457200" cy="749808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234440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78408" y="1298448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Главная страница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78408" y="1581912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Слайдер, услуги, контакты, кнопка записи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00600" y="1234440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00600" y="1234440"/>
            <a:ext cx="457200" cy="749808"/>
          </a:xfrm>
          <a:prstGeom prst="rect">
            <a:avLst/>
          </a:prstGeom>
          <a:solidFill>
            <a:srgbClr val="363636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234440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67528" y="1298448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Услуги и цены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367528" y="1581912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услуг с ценами и кнопкой «Записаться»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2121408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121408"/>
            <a:ext cx="457200" cy="749808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121408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78408" y="2185416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Портфолио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78408" y="2468880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Галерея с фильтрацией по категориям + Lightbox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00600" y="2121408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00600" y="2121408"/>
            <a:ext cx="457200" cy="749808"/>
          </a:xfrm>
          <a:prstGeom prst="rect">
            <a:avLst/>
          </a:prstGeom>
          <a:solidFill>
            <a:srgbClr val="363636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2121408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67528" y="2185416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Онлайн-запись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367528" y="2468880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Модальное окно, слоты, автозаполнение для авторизованных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11480" y="3008376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008376"/>
            <a:ext cx="457200" cy="749808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008376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78408" y="307238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Регистрация / Вход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78408" y="3355848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клиент и администратор, bcrypt, токены Sanctum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800600" y="3008376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00600" y="3008376"/>
            <a:ext cx="457200" cy="749808"/>
          </a:xfrm>
          <a:prstGeom prst="rect">
            <a:avLst/>
          </a:prstGeom>
          <a:solidFill>
            <a:srgbClr val="363636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008376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367528" y="307238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Личный кабинет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367528" y="3355848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вкладки: данные, мои записи, мои фотосессии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11480" y="3895344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1480" y="3895344"/>
            <a:ext cx="457200" cy="749808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1480" y="3895344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78408" y="3959352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Административная панель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978408" y="4242816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разделов: дашборд, заявки, услуги, портфолио, клиенты, фотосессии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800600" y="3895344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3895344"/>
            <a:ext cx="457200" cy="749808"/>
          </a:xfrm>
          <a:prstGeom prst="rect">
            <a:avLst/>
          </a:prstGeom>
          <a:solidFill>
            <a:srgbClr val="363636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3895344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367528" y="3959352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Контакты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5367528" y="4242816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Яндекс.Карты, форма обратной связи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 «МОИ ФОТОСЕССИИ»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СТАТУСНАЯ МОДЕЛЬ ФОТОСЕССИИ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11480" y="1417320"/>
            <a:ext cx="1828800" cy="685800"/>
          </a:xfrm>
          <a:prstGeom prst="rect">
            <a:avLst/>
          </a:prstGeom>
          <a:solidFill>
            <a:srgbClr val="363636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41732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Создана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40280" y="1764792"/>
            <a:ext cx="228600" cy="0"/>
          </a:xfrm>
          <a:prstGeom prst="line">
            <a:avLst/>
          </a:prstGeom>
          <a:noFill/>
          <a:ln w="25400">
            <a:solidFill>
              <a:srgbClr val="B89A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68880" y="1417320"/>
            <a:ext cx="1828800" cy="6858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141732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Ожидает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764792"/>
            <a:ext cx="228600" cy="0"/>
          </a:xfrm>
          <a:prstGeom prst="line">
            <a:avLst/>
          </a:prstGeom>
          <a:noFill/>
          <a:ln w="25400">
            <a:solidFill>
              <a:srgbClr val="B89A6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26280" y="1417320"/>
            <a:ext cx="1828800" cy="685800"/>
          </a:xfrm>
          <a:prstGeom prst="rect">
            <a:avLst/>
          </a:prstGeom>
          <a:solidFill>
            <a:srgbClr val="7A7570"/>
          </a:solidFill>
          <a:ln w="12700">
            <a:solidFill>
              <a:srgbClr val="7A75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141732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обработке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55080" y="1764792"/>
            <a:ext cx="228600" cy="0"/>
          </a:xfrm>
          <a:prstGeom prst="line">
            <a:avLst/>
          </a:prstGeom>
          <a:noFill/>
          <a:ln w="25400">
            <a:solidFill>
              <a:srgbClr val="B89A6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0" y="1417320"/>
            <a:ext cx="1828800" cy="68580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0" y="141732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1480" y="2286000"/>
            <a:ext cx="3931920" cy="251460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2286000"/>
            <a:ext cx="39319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2304288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277977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2734056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Создаёт фотосессию и привязывает к заявке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" y="319125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145536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Загружает исходные фото (JPG/PNG/WEBP, до 10 МБ)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60273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3557016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Меняет статус → клиент получает уведомление на email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4360" y="401421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3968496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 выбор клиента и его комментарии к каждому фото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94360" y="442569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379976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Загружает обработанные фото → статус «Готово»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54880" y="2286000"/>
            <a:ext cx="3977640" cy="251460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54880" y="2286000"/>
            <a:ext cx="3977640" cy="36576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0" y="2304288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937760" y="2779776"/>
            <a:ext cx="91440" cy="91440"/>
          </a:xfrm>
          <a:prstGeom prst="ellipse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20640" y="273405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 фотосессии в личном кабинете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937760" y="3191256"/>
            <a:ext cx="91440" cy="91440"/>
          </a:xfrm>
          <a:prstGeom prst="ellipse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20640" y="314553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Просматривает исходники в режиме Lightbox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937760" y="3602736"/>
            <a:ext cx="91440" cy="91440"/>
          </a:xfrm>
          <a:prstGeom prst="ellipse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120640" y="355701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Выбирает фото для ретуши (макс. кол-во задаёт администратор)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937760" y="4014216"/>
            <a:ext cx="91440" cy="91440"/>
          </a:xfrm>
          <a:prstGeom prst="ellipse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20640" y="396849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Оставляет комментарии к каждому выбранному фото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937760" y="4425696"/>
            <a:ext cx="91440" cy="91440"/>
          </a:xfrm>
          <a:prstGeom prst="ellipse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20640" y="437997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Скачивает готовые фото архивом (.zip)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731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Все поставленные задачи выполнены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1965960" cy="146304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50876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11480" y="214884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Vue-компонентов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фронтенде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0" y="1417320"/>
            <a:ext cx="1965960" cy="146304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150876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2560320" y="214884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контроллеров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на бэкенде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417320"/>
            <a:ext cx="1965960" cy="146304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50876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709160" y="214884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функциональных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модулей системы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0" y="1417320"/>
            <a:ext cx="1965960" cy="146304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0" y="150876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858000" y="214884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пользователей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1480" y="3063240"/>
            <a:ext cx="8321040" cy="914400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127248"/>
            <a:ext cx="79552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Разработана информационная система сайта фотосалона «Cameraw» на стеке </a:t>
            </a:r>
            <a:r>
              <a:rPr lang="en-US" sz="1250" b="1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Vue.js 3 + Laravel 10 + MySQL</a:t>
            </a:r>
            <a:r>
              <a:rPr lang="en-US" sz="12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включает инновационный модуль «Фотосессии», не имеющий аналогов среди конкурентов анализируемого сегмента.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11480" y="4160520"/>
            <a:ext cx="8321040" cy="658368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178808"/>
            <a:ext cx="7955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Спасибо за </a:t>
            </a:r>
            <a:r>
              <a:rPr lang="en-US" sz="1800" i="1" dirty="0" err="1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внимание</a:t>
            </a:r>
            <a:r>
              <a:rPr lang="en-US" sz="1800" i="1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599</Words>
  <Application>Microsoft Office PowerPoint</Application>
  <PresentationFormat>Экран (16:9)</PresentationFormat>
  <Paragraphs>160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</vt:lpstr>
      <vt:lpstr>Calibri</vt:lpstr>
      <vt:lpstr>Georgia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Рабочее место студента В418</cp:lastModifiedBy>
  <cp:revision>6</cp:revision>
  <dcterms:created xsi:type="dcterms:W3CDTF">2026-02-26T07:15:52Z</dcterms:created>
  <dcterms:modified xsi:type="dcterms:W3CDTF">2026-02-26T10:49:51Z</dcterms:modified>
</cp:coreProperties>
</file>